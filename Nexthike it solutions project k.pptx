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66" r:id="rId9"/>
    <p:sldId id="268" r:id="rId10"/>
    <p:sldId id="269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323961-1C0D-4FA6-94D7-61272F28364C}" v="22" dt="2026-05-23T19:28:11.0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[Nexthike projrct excel.xlsx]Average rental !PivotTable1</c:name>
    <c:fmtId val="13"/>
  </c:pivotSource>
  <c:chart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/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/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/>
        </c:spPr>
        <c:marker>
          <c:symbol val="circle"/>
          <c:size val="6"/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3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/>
        </c:spPr>
        <c:marker>
          <c:symbol val="circle"/>
          <c:size val="6"/>
          <c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4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/>
        </c:spPr>
        <c:marker>
          <c:symbol val="circle"/>
          <c:size val="6"/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5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/>
        </c:spPr>
        <c:marker>
          <c:symbol val="circle"/>
          <c:size val="6"/>
          <c:spPr>
            <a:gradFill rotWithShape="1">
              <a:gsLst>
                <a:gs pos="0">
                  <a:schemeClr val="accent6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satMod val="110000"/>
                    <a:lumMod val="100000"/>
                    <a:shade val="100000"/>
                  </a:schemeClr>
                </a:gs>
                <a:gs pos="100000">
                  <a:schemeClr val="accent6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6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/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lumMod val="60000"/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lumMod val="60000"/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6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>
                  <a:lumMod val="60000"/>
                </a:schemeClr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ndard"/>
        <c:varyColors val="0"/>
        <c:ser>
          <c:idx val="0"/>
          <c:order val="0"/>
          <c:tx>
            <c:strRef>
              <c:f>'Average rental '!$B$6</c:f>
              <c:strCache>
                <c:ptCount val="1"/>
                <c:pt idx="0">
                  <c:v>Avge of rental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/>
          </c:spPr>
          <c:invertIfNegative val="0"/>
          <c:cat>
            <c:strRef>
              <c:f>'Average rental '!$A$7:$A$31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'Average rental '!$B$7:$B$31</c:f>
              <c:numCache>
                <c:formatCode>0.00</c:formatCode>
                <c:ptCount val="24"/>
                <c:pt idx="0">
                  <c:v>17.418604651162791</c:v>
                </c:pt>
                <c:pt idx="1">
                  <c:v>14.813953488372093</c:v>
                </c:pt>
                <c:pt idx="2">
                  <c:v>12.390243902439025</c:v>
                </c:pt>
                <c:pt idx="3">
                  <c:v>10.67741935483871</c:v>
                </c:pt>
                <c:pt idx="4">
                  <c:v>10.96875</c:v>
                </c:pt>
                <c:pt idx="5">
                  <c:v>11.615384615384615</c:v>
                </c:pt>
                <c:pt idx="6">
                  <c:v>18.142857142857142</c:v>
                </c:pt>
                <c:pt idx="7">
                  <c:v>31.674418604651162</c:v>
                </c:pt>
                <c:pt idx="8">
                  <c:v>59.19047619047619</c:v>
                </c:pt>
                <c:pt idx="9">
                  <c:v>45.047619047619051</c:v>
                </c:pt>
                <c:pt idx="10">
                  <c:v>32.571428571428569</c:v>
                </c:pt>
                <c:pt idx="11">
                  <c:v>34.642857142857146</c:v>
                </c:pt>
                <c:pt idx="12">
                  <c:v>41.372093023255815</c:v>
                </c:pt>
                <c:pt idx="13">
                  <c:v>41.697674418604649</c:v>
                </c:pt>
                <c:pt idx="14">
                  <c:v>41.97674418604651</c:v>
                </c:pt>
                <c:pt idx="15">
                  <c:v>54.660550458715598</c:v>
                </c:pt>
                <c:pt idx="16">
                  <c:v>49.090909090909093</c:v>
                </c:pt>
                <c:pt idx="17">
                  <c:v>69.340909090909093</c:v>
                </c:pt>
                <c:pt idx="18">
                  <c:v>60.860465116279073</c:v>
                </c:pt>
                <c:pt idx="19">
                  <c:v>43.348837209302324</c:v>
                </c:pt>
                <c:pt idx="20">
                  <c:v>35.604651162790695</c:v>
                </c:pt>
                <c:pt idx="21">
                  <c:v>31.093023255813954</c:v>
                </c:pt>
                <c:pt idx="22">
                  <c:v>25.255813953488371</c:v>
                </c:pt>
                <c:pt idx="23">
                  <c:v>21.837209302325583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88F-49FE-B2C8-B760566C2AFB}"/>
            </c:ext>
          </c:extLst>
        </c:ser>
        <c:ser>
          <c:idx val="1"/>
          <c:order val="1"/>
          <c:tx>
            <c:strRef>
              <c:f>'Average rental '!$C$6</c:f>
              <c:strCache>
                <c:ptCount val="1"/>
                <c:pt idx="0">
                  <c:v>Total rental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/>
          </c:spPr>
          <c:invertIfNegative val="0"/>
          <c:cat>
            <c:strRef>
              <c:f>'Average rental '!$A$7:$A$31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'Average rental '!$C$7:$C$31</c:f>
              <c:numCache>
                <c:formatCode>General</c:formatCode>
                <c:ptCount val="24"/>
                <c:pt idx="0">
                  <c:v>749</c:v>
                </c:pt>
                <c:pt idx="1">
                  <c:v>637</c:v>
                </c:pt>
                <c:pt idx="2">
                  <c:v>508</c:v>
                </c:pt>
                <c:pt idx="3">
                  <c:v>331</c:v>
                </c:pt>
                <c:pt idx="4">
                  <c:v>351</c:v>
                </c:pt>
                <c:pt idx="5">
                  <c:v>453</c:v>
                </c:pt>
                <c:pt idx="6">
                  <c:v>762</c:v>
                </c:pt>
                <c:pt idx="7">
                  <c:v>1362</c:v>
                </c:pt>
                <c:pt idx="8">
                  <c:v>2486</c:v>
                </c:pt>
                <c:pt idx="9">
                  <c:v>1892</c:v>
                </c:pt>
                <c:pt idx="10">
                  <c:v>1368</c:v>
                </c:pt>
                <c:pt idx="11">
                  <c:v>1455</c:v>
                </c:pt>
                <c:pt idx="12">
                  <c:v>1779</c:v>
                </c:pt>
                <c:pt idx="13">
                  <c:v>1793</c:v>
                </c:pt>
                <c:pt idx="14">
                  <c:v>1805</c:v>
                </c:pt>
                <c:pt idx="15">
                  <c:v>35748</c:v>
                </c:pt>
                <c:pt idx="16">
                  <c:v>2160</c:v>
                </c:pt>
                <c:pt idx="17">
                  <c:v>3051</c:v>
                </c:pt>
                <c:pt idx="18">
                  <c:v>2617</c:v>
                </c:pt>
                <c:pt idx="19">
                  <c:v>1864</c:v>
                </c:pt>
                <c:pt idx="20">
                  <c:v>1531</c:v>
                </c:pt>
                <c:pt idx="21">
                  <c:v>1337</c:v>
                </c:pt>
                <c:pt idx="22">
                  <c:v>1086</c:v>
                </c:pt>
                <c:pt idx="23">
                  <c:v>939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88F-49FE-B2C8-B760566C2AFB}"/>
            </c:ext>
          </c:extLst>
        </c:ser>
        <c:ser>
          <c:idx val="2"/>
          <c:order val="2"/>
          <c:tx>
            <c:strRef>
              <c:f>'Average rental '!$D$6</c:f>
              <c:strCache>
                <c:ptCount val="1"/>
                <c:pt idx="0">
                  <c:v>Min of rental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/>
          </c:spPr>
          <c:invertIfNegative val="0"/>
          <c:cat>
            <c:strRef>
              <c:f>'Average rental '!$A$7:$A$31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'Average rental '!$D$7:$D$31</c:f>
              <c:numCache>
                <c:formatCode>General</c:formatCode>
                <c:ptCount val="24"/>
                <c:pt idx="0">
                  <c:v>2</c:v>
                </c:pt>
                <c:pt idx="1">
                  <c:v>3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3</c:v>
                </c:pt>
                <c:pt idx="8">
                  <c:v>10</c:v>
                </c:pt>
                <c:pt idx="9">
                  <c:v>16</c:v>
                </c:pt>
                <c:pt idx="10">
                  <c:v>16</c:v>
                </c:pt>
                <c:pt idx="11">
                  <c:v>16</c:v>
                </c:pt>
                <c:pt idx="12">
                  <c:v>16</c:v>
                </c:pt>
                <c:pt idx="13">
                  <c:v>16</c:v>
                </c:pt>
                <c:pt idx="14">
                  <c:v>16</c:v>
                </c:pt>
                <c:pt idx="15">
                  <c:v>0</c:v>
                </c:pt>
                <c:pt idx="16">
                  <c:v>16</c:v>
                </c:pt>
                <c:pt idx="17">
                  <c:v>16</c:v>
                </c:pt>
                <c:pt idx="18">
                  <c:v>16</c:v>
                </c:pt>
                <c:pt idx="19">
                  <c:v>16</c:v>
                </c:pt>
                <c:pt idx="20">
                  <c:v>16</c:v>
                </c:pt>
                <c:pt idx="21">
                  <c:v>16</c:v>
                </c:pt>
                <c:pt idx="22">
                  <c:v>16</c:v>
                </c:pt>
                <c:pt idx="23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88F-49FE-B2C8-B760566C2AFB}"/>
            </c:ext>
          </c:extLst>
        </c:ser>
        <c:ser>
          <c:idx val="3"/>
          <c:order val="3"/>
          <c:tx>
            <c:strRef>
              <c:f>'Average rental '!$E$6</c:f>
              <c:strCache>
                <c:ptCount val="1"/>
                <c:pt idx="0">
                  <c:v>Max of rental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/>
          </c:spPr>
          <c:invertIfNegative val="0"/>
          <c:cat>
            <c:strRef>
              <c:f>'Average rental '!$A$7:$A$31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'Average rental '!$E$7:$E$31</c:f>
              <c:numCache>
                <c:formatCode>General</c:formatCode>
                <c:ptCount val="24"/>
                <c:pt idx="0">
                  <c:v>39</c:v>
                </c:pt>
                <c:pt idx="1">
                  <c:v>44</c:v>
                </c:pt>
                <c:pt idx="2">
                  <c:v>20</c:v>
                </c:pt>
                <c:pt idx="3">
                  <c:v>16</c:v>
                </c:pt>
                <c:pt idx="4">
                  <c:v>16</c:v>
                </c:pt>
                <c:pt idx="5">
                  <c:v>16</c:v>
                </c:pt>
                <c:pt idx="6">
                  <c:v>43</c:v>
                </c:pt>
                <c:pt idx="7">
                  <c:v>100</c:v>
                </c:pt>
                <c:pt idx="8">
                  <c:v>243</c:v>
                </c:pt>
                <c:pt idx="9">
                  <c:v>140</c:v>
                </c:pt>
                <c:pt idx="10">
                  <c:v>105</c:v>
                </c:pt>
                <c:pt idx="11">
                  <c:v>117</c:v>
                </c:pt>
                <c:pt idx="12">
                  <c:v>174</c:v>
                </c:pt>
                <c:pt idx="13">
                  <c:v>182</c:v>
                </c:pt>
                <c:pt idx="14">
                  <c:v>161</c:v>
                </c:pt>
                <c:pt idx="15">
                  <c:v>249</c:v>
                </c:pt>
                <c:pt idx="16">
                  <c:v>157</c:v>
                </c:pt>
                <c:pt idx="17">
                  <c:v>216</c:v>
                </c:pt>
                <c:pt idx="18">
                  <c:v>182</c:v>
                </c:pt>
                <c:pt idx="19">
                  <c:v>128</c:v>
                </c:pt>
                <c:pt idx="20">
                  <c:v>109</c:v>
                </c:pt>
                <c:pt idx="21">
                  <c:v>83</c:v>
                </c:pt>
                <c:pt idx="22">
                  <c:v>62</c:v>
                </c:pt>
                <c:pt idx="23">
                  <c:v>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88F-49FE-B2C8-B760566C2AFB}"/>
            </c:ext>
          </c:extLst>
        </c:ser>
        <c:ser>
          <c:idx val="4"/>
          <c:order val="4"/>
          <c:tx>
            <c:strRef>
              <c:f>'Average rental '!$F$6</c:f>
              <c:strCache>
                <c:ptCount val="1"/>
                <c:pt idx="0">
                  <c:v>Average of casual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/>
          </c:spPr>
          <c:invertIfNegative val="0"/>
          <c:cat>
            <c:strRef>
              <c:f>'Average rental '!$A$7:$A$31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'Average rental '!$F$7:$F$31</c:f>
              <c:numCache>
                <c:formatCode>0.00</c:formatCode>
                <c:ptCount val="24"/>
                <c:pt idx="0">
                  <c:v>2.558139534883721</c:v>
                </c:pt>
                <c:pt idx="1">
                  <c:v>2.2790697674418605</c:v>
                </c:pt>
                <c:pt idx="2">
                  <c:v>2.1219512195121952</c:v>
                </c:pt>
                <c:pt idx="3">
                  <c:v>2.064516129032258</c:v>
                </c:pt>
                <c:pt idx="4">
                  <c:v>1.9375</c:v>
                </c:pt>
                <c:pt idx="5">
                  <c:v>1.8717948717948718</c:v>
                </c:pt>
                <c:pt idx="6">
                  <c:v>2.0714285714285716</c:v>
                </c:pt>
                <c:pt idx="7">
                  <c:v>2.3255813953488373</c:v>
                </c:pt>
                <c:pt idx="8">
                  <c:v>2.9761904761904763</c:v>
                </c:pt>
                <c:pt idx="9">
                  <c:v>3.5</c:v>
                </c:pt>
                <c:pt idx="10">
                  <c:v>4.1190476190476186</c:v>
                </c:pt>
                <c:pt idx="11">
                  <c:v>5.3095238095238093</c:v>
                </c:pt>
                <c:pt idx="12">
                  <c:v>6.7674418604651159</c:v>
                </c:pt>
                <c:pt idx="13">
                  <c:v>7.2325581395348841</c:v>
                </c:pt>
                <c:pt idx="14">
                  <c:v>7.0930232558139537</c:v>
                </c:pt>
                <c:pt idx="15">
                  <c:v>4.6957186544342511</c:v>
                </c:pt>
                <c:pt idx="16">
                  <c:v>7.2954545454545459</c:v>
                </c:pt>
                <c:pt idx="17">
                  <c:v>6.0909090909090908</c:v>
                </c:pt>
                <c:pt idx="18">
                  <c:v>3.9767441860465116</c:v>
                </c:pt>
                <c:pt idx="19">
                  <c:v>3.441860465116279</c:v>
                </c:pt>
                <c:pt idx="20">
                  <c:v>3.1627906976744184</c:v>
                </c:pt>
                <c:pt idx="21">
                  <c:v>2.9534883720930232</c:v>
                </c:pt>
                <c:pt idx="22">
                  <c:v>2.9069767441860463</c:v>
                </c:pt>
                <c:pt idx="23">
                  <c:v>2.9767441860465116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88F-49FE-B2C8-B760566C2AFB}"/>
            </c:ext>
          </c:extLst>
        </c:ser>
        <c:ser>
          <c:idx val="5"/>
          <c:order val="5"/>
          <c:tx>
            <c:strRef>
              <c:f>'Average rental '!$G$6</c:f>
              <c:strCache>
                <c:ptCount val="1"/>
                <c:pt idx="0">
                  <c:v>Average of registered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satMod val="110000"/>
                    <a:lumMod val="100000"/>
                    <a:shade val="100000"/>
                  </a:schemeClr>
                </a:gs>
                <a:gs pos="100000">
                  <a:schemeClr val="accent6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/>
          </c:spPr>
          <c:invertIfNegative val="0"/>
          <c:cat>
            <c:strRef>
              <c:f>'Average rental '!$A$7:$A$31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'Average rental '!$G$7:$G$31</c:f>
              <c:numCache>
                <c:formatCode>0.00</c:formatCode>
                <c:ptCount val="24"/>
                <c:pt idx="0">
                  <c:v>14.86046511627907</c:v>
                </c:pt>
                <c:pt idx="1">
                  <c:v>12.534883720930232</c:v>
                </c:pt>
                <c:pt idx="2">
                  <c:v>10.268292682926829</c:v>
                </c:pt>
                <c:pt idx="3">
                  <c:v>8.612903225806452</c:v>
                </c:pt>
                <c:pt idx="4">
                  <c:v>9.03125</c:v>
                </c:pt>
                <c:pt idx="5">
                  <c:v>9.7435897435897427</c:v>
                </c:pt>
                <c:pt idx="6">
                  <c:v>16.071428571428573</c:v>
                </c:pt>
                <c:pt idx="7">
                  <c:v>29.348837209302324</c:v>
                </c:pt>
                <c:pt idx="8">
                  <c:v>56.214285714285715</c:v>
                </c:pt>
                <c:pt idx="9">
                  <c:v>41.547619047619051</c:v>
                </c:pt>
                <c:pt idx="10">
                  <c:v>28.452380952380953</c:v>
                </c:pt>
                <c:pt idx="11">
                  <c:v>29.333333333333332</c:v>
                </c:pt>
                <c:pt idx="12">
                  <c:v>34.604651162790695</c:v>
                </c:pt>
                <c:pt idx="13">
                  <c:v>34.465116279069768</c:v>
                </c:pt>
                <c:pt idx="14">
                  <c:v>34.883720930232556</c:v>
                </c:pt>
                <c:pt idx="15">
                  <c:v>49.964831804281346</c:v>
                </c:pt>
                <c:pt idx="16">
                  <c:v>41.795454545454547</c:v>
                </c:pt>
                <c:pt idx="17">
                  <c:v>63.25</c:v>
                </c:pt>
                <c:pt idx="18">
                  <c:v>56.883720930232556</c:v>
                </c:pt>
                <c:pt idx="19">
                  <c:v>39.906976744186046</c:v>
                </c:pt>
                <c:pt idx="20">
                  <c:v>32.441860465116278</c:v>
                </c:pt>
                <c:pt idx="21">
                  <c:v>28.13953488372093</c:v>
                </c:pt>
                <c:pt idx="22">
                  <c:v>22.348837209302324</c:v>
                </c:pt>
                <c:pt idx="23">
                  <c:v>18.86046511627907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88F-49FE-B2C8-B760566C2AFB}"/>
            </c:ext>
          </c:extLst>
        </c:ser>
        <c:ser>
          <c:idx val="6"/>
          <c:order val="6"/>
          <c:tx>
            <c:strRef>
              <c:f>'Average rental '!$H$6</c:f>
              <c:strCache>
                <c:ptCount val="1"/>
                <c:pt idx="0">
                  <c:v>Average of temp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60000"/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lumMod val="60000"/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6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/>
          </c:spPr>
          <c:invertIfNegative val="0"/>
          <c:cat>
            <c:strRef>
              <c:f>'Average rental '!$A$7:$A$31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'Average rental '!$H$7:$H$31</c:f>
              <c:numCache>
                <c:formatCode>0.00</c:formatCode>
                <c:ptCount val="24"/>
                <c:pt idx="0">
                  <c:v>0.19069767441860466</c:v>
                </c:pt>
                <c:pt idx="1">
                  <c:v>0.1841860465116279</c:v>
                </c:pt>
                <c:pt idx="2">
                  <c:v>0.1824390243902439</c:v>
                </c:pt>
                <c:pt idx="3">
                  <c:v>0.18193548387096778</c:v>
                </c:pt>
                <c:pt idx="4">
                  <c:v>0.18812500000000001</c:v>
                </c:pt>
                <c:pt idx="5">
                  <c:v>0.16564102564102567</c:v>
                </c:pt>
                <c:pt idx="6">
                  <c:v>0.16714285714285715</c:v>
                </c:pt>
                <c:pt idx="7">
                  <c:v>0.16418604651162791</c:v>
                </c:pt>
                <c:pt idx="8">
                  <c:v>0.16523809523809524</c:v>
                </c:pt>
                <c:pt idx="9">
                  <c:v>0.180952380952381</c:v>
                </c:pt>
                <c:pt idx="10">
                  <c:v>0.19619047619047617</c:v>
                </c:pt>
                <c:pt idx="11">
                  <c:v>0.21428571428571433</c:v>
                </c:pt>
                <c:pt idx="12">
                  <c:v>0.23023255813953494</c:v>
                </c:pt>
                <c:pt idx="13">
                  <c:v>0.24232558139534888</c:v>
                </c:pt>
                <c:pt idx="14">
                  <c:v>0.25488372093023254</c:v>
                </c:pt>
                <c:pt idx="15">
                  <c:v>0.20373088685015475</c:v>
                </c:pt>
                <c:pt idx="16">
                  <c:v>0.25409090909090915</c:v>
                </c:pt>
                <c:pt idx="17">
                  <c:v>0.24318181818181819</c:v>
                </c:pt>
                <c:pt idx="18">
                  <c:v>0.23209302325581396</c:v>
                </c:pt>
                <c:pt idx="19">
                  <c:v>0.22232558139534889</c:v>
                </c:pt>
                <c:pt idx="20">
                  <c:v>0.21069767441860465</c:v>
                </c:pt>
                <c:pt idx="21">
                  <c:v>0.20232558139534881</c:v>
                </c:pt>
                <c:pt idx="22">
                  <c:v>0.19627906976744186</c:v>
                </c:pt>
                <c:pt idx="23">
                  <c:v>0.19488372093023257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88F-49FE-B2C8-B760566C2A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364383184"/>
        <c:axId val="1364377904"/>
        <c:axId val="1701443200"/>
      </c:bar3DChart>
      <c:catAx>
        <c:axId val="13643831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64377904"/>
        <c:crosses val="autoZero"/>
        <c:auto val="1"/>
        <c:lblAlgn val="ctr"/>
        <c:lblOffset val="100"/>
        <c:noMultiLvlLbl val="0"/>
      </c:catAx>
      <c:valAx>
        <c:axId val="13643779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50000"/>
                  <a:lumOff val="50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64383184"/>
        <c:crosses val="autoZero"/>
        <c:crossBetween val="between"/>
      </c:valAx>
      <c:serAx>
        <c:axId val="170144320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64377904"/>
        <c:crosses val="autoZero"/>
      </c:ser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[Nexthike projrct excel.xlsx]weekdays vs weekensa!PivotTable1</c:name>
    <c:fmtId val="1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/>
              <a:t>Weekdays</a:t>
            </a:r>
            <a:r>
              <a:rPr lang="en-IN" baseline="0"/>
              <a:t> vs Weekend 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11740332458442694"/>
          <c:y val="0.26009040536599592"/>
          <c:w val="0.31828783902012248"/>
          <c:h val="0.4117512394284048"/>
        </c:manualLayout>
      </c:layout>
      <c:bar3DChart>
        <c:barDir val="col"/>
        <c:grouping val="standard"/>
        <c:varyColors val="0"/>
        <c:ser>
          <c:idx val="0"/>
          <c:order val="0"/>
          <c:tx>
            <c:strRef>
              <c:f>'weekdays vs weekensa'!$B$7</c:f>
              <c:strCache>
                <c:ptCount val="1"/>
                <c:pt idx="0">
                  <c:v>Average Rental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/>
          </c:spPr>
          <c:invertIfNegative val="0"/>
          <c:cat>
            <c:strRef>
              <c:f>'weekdays vs weekensa'!$A$8:$A$10</c:f>
              <c:strCache>
                <c:ptCount val="2"/>
                <c:pt idx="0">
                  <c:v>Weekdays</c:v>
                </c:pt>
                <c:pt idx="1">
                  <c:v>Weekends</c:v>
                </c:pt>
              </c:strCache>
            </c:strRef>
          </c:cat>
          <c:val>
            <c:numRef>
              <c:f>'weekdays vs weekensa'!$B$8:$B$10</c:f>
              <c:numCache>
                <c:formatCode>General</c:formatCode>
                <c:ptCount val="2"/>
                <c:pt idx="0">
                  <c:v>33.995689655172413</c:v>
                </c:pt>
                <c:pt idx="1">
                  <c:v>48.527868852459015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4AC-4769-B8D4-6FDE953C96AB}"/>
            </c:ext>
          </c:extLst>
        </c:ser>
        <c:ser>
          <c:idx val="1"/>
          <c:order val="1"/>
          <c:tx>
            <c:strRef>
              <c:f>'weekdays vs weekensa'!$C$7</c:f>
              <c:strCache>
                <c:ptCount val="1"/>
                <c:pt idx="0">
                  <c:v>Total Rental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/>
          </c:spPr>
          <c:invertIfNegative val="0"/>
          <c:cat>
            <c:strRef>
              <c:f>'weekdays vs weekensa'!$A$8:$A$10</c:f>
              <c:strCache>
                <c:ptCount val="2"/>
                <c:pt idx="0">
                  <c:v>Weekdays</c:v>
                </c:pt>
                <c:pt idx="1">
                  <c:v>Weekends</c:v>
                </c:pt>
              </c:strCache>
            </c:strRef>
          </c:cat>
          <c:val>
            <c:numRef>
              <c:f>'weekdays vs weekensa'!$C$8:$C$10</c:f>
              <c:numCache>
                <c:formatCode>General</c:formatCode>
                <c:ptCount val="2"/>
                <c:pt idx="0">
                  <c:v>23661</c:v>
                </c:pt>
                <c:pt idx="1">
                  <c:v>44403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4AC-4769-B8D4-6FDE953C96AB}"/>
            </c:ext>
          </c:extLst>
        </c:ser>
        <c:ser>
          <c:idx val="2"/>
          <c:order val="2"/>
          <c:tx>
            <c:strRef>
              <c:f>'weekdays vs weekensa'!$D$7</c:f>
              <c:strCache>
                <c:ptCount val="1"/>
                <c:pt idx="0">
                  <c:v>Average of casual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/>
          </c:spPr>
          <c:invertIfNegative val="0"/>
          <c:cat>
            <c:strRef>
              <c:f>'weekdays vs weekensa'!$A$8:$A$10</c:f>
              <c:strCache>
                <c:ptCount val="2"/>
                <c:pt idx="0">
                  <c:v>Weekdays</c:v>
                </c:pt>
                <c:pt idx="1">
                  <c:v>Weekends</c:v>
                </c:pt>
              </c:strCache>
            </c:strRef>
          </c:cat>
          <c:val>
            <c:numRef>
              <c:f>'weekdays vs weekensa'!$D$8:$D$10</c:f>
              <c:numCache>
                <c:formatCode>General</c:formatCode>
                <c:ptCount val="2"/>
                <c:pt idx="0">
                  <c:v>3.8721264367816093</c:v>
                </c:pt>
                <c:pt idx="1">
                  <c:v>4.4327868852459016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4AC-4769-B8D4-6FDE953C96AB}"/>
            </c:ext>
          </c:extLst>
        </c:ser>
        <c:ser>
          <c:idx val="3"/>
          <c:order val="3"/>
          <c:tx>
            <c:strRef>
              <c:f>'weekdays vs weekensa'!$E$7</c:f>
              <c:strCache>
                <c:ptCount val="1"/>
                <c:pt idx="0">
                  <c:v>Average of registered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/>
          </c:spPr>
          <c:invertIfNegative val="0"/>
          <c:cat>
            <c:strRef>
              <c:f>'weekdays vs weekensa'!$A$8:$A$10</c:f>
              <c:strCache>
                <c:ptCount val="2"/>
                <c:pt idx="0">
                  <c:v>Weekdays</c:v>
                </c:pt>
                <c:pt idx="1">
                  <c:v>Weekends</c:v>
                </c:pt>
              </c:strCache>
            </c:strRef>
          </c:cat>
          <c:val>
            <c:numRef>
              <c:f>'weekdays vs weekensa'!$E$8:$E$10</c:f>
              <c:numCache>
                <c:formatCode>General</c:formatCode>
                <c:ptCount val="2"/>
                <c:pt idx="0">
                  <c:v>30.123563218390803</c:v>
                </c:pt>
                <c:pt idx="1">
                  <c:v>44.095081967213112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4AC-4769-B8D4-6FDE953C96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663749439"/>
        <c:axId val="1663747519"/>
        <c:axId val="1684372191"/>
      </c:bar3DChart>
      <c:catAx>
        <c:axId val="16637494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63747519"/>
        <c:crosses val="autoZero"/>
        <c:auto val="1"/>
        <c:lblAlgn val="ctr"/>
        <c:lblOffset val="100"/>
        <c:noMultiLvlLbl val="0"/>
      </c:catAx>
      <c:valAx>
        <c:axId val="16637475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50000"/>
                  <a:lumOff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63749439"/>
        <c:crosses val="autoZero"/>
        <c:crossBetween val="between"/>
      </c:valAx>
      <c:serAx>
        <c:axId val="168437219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63747519"/>
        <c:crosses val="autoZero"/>
      </c:ser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[Nexthike projrct excel.xlsx]Time period!PivotTable3</c:name>
    <c:fmtId val="1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/>
              <a:t>Time</a:t>
            </a:r>
            <a:r>
              <a:rPr lang="en-IN" baseline="0"/>
              <a:t> period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ndard"/>
        <c:varyColors val="0"/>
        <c:ser>
          <c:idx val="0"/>
          <c:order val="0"/>
          <c:tx>
            <c:strRef>
              <c:f>'Time period'!$B$7</c:f>
              <c:strCache>
                <c:ptCount val="1"/>
                <c:pt idx="0">
                  <c:v>Average of sales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/>
          </c:spPr>
          <c:invertIfNegative val="0"/>
          <c:cat>
            <c:strRef>
              <c:f>'Time period'!$A$8:$A$13</c:f>
              <c:strCache>
                <c:ptCount val="5"/>
                <c:pt idx="0">
                  <c:v>Afternoon</c:v>
                </c:pt>
                <c:pt idx="1">
                  <c:v>Evening</c:v>
                </c:pt>
                <c:pt idx="2">
                  <c:v>Morning</c:v>
                </c:pt>
                <c:pt idx="3">
                  <c:v>Night</c:v>
                </c:pt>
                <c:pt idx="4">
                  <c:v>(blank)</c:v>
                </c:pt>
              </c:strCache>
            </c:strRef>
          </c:cat>
          <c:val>
            <c:numRef>
              <c:f>'Time period'!$B$8:$B$13</c:f>
              <c:numCache>
                <c:formatCode>General</c:formatCode>
                <c:ptCount val="5"/>
                <c:pt idx="0">
                  <c:v>52.522349936143037</c:v>
                </c:pt>
                <c:pt idx="1">
                  <c:v>51.718894009216591</c:v>
                </c:pt>
                <c:pt idx="2">
                  <c:v>25.630705394190873</c:v>
                </c:pt>
                <c:pt idx="3">
                  <c:v>26.062015503875969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27-407E-B81C-73736D33DAF1}"/>
            </c:ext>
          </c:extLst>
        </c:ser>
        <c:ser>
          <c:idx val="1"/>
          <c:order val="1"/>
          <c:tx>
            <c:strRef>
              <c:f>'Time period'!$C$7</c:f>
              <c:strCache>
                <c:ptCount val="1"/>
                <c:pt idx="0">
                  <c:v>Average of registered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/>
          </c:spPr>
          <c:invertIfNegative val="0"/>
          <c:cat>
            <c:strRef>
              <c:f>'Time period'!$A$8:$A$13</c:f>
              <c:strCache>
                <c:ptCount val="5"/>
                <c:pt idx="0">
                  <c:v>Afternoon</c:v>
                </c:pt>
                <c:pt idx="1">
                  <c:v>Evening</c:v>
                </c:pt>
                <c:pt idx="2">
                  <c:v>Morning</c:v>
                </c:pt>
                <c:pt idx="3">
                  <c:v>Night</c:v>
                </c:pt>
                <c:pt idx="4">
                  <c:v>(blank)</c:v>
                </c:pt>
              </c:strCache>
            </c:strRef>
          </c:cat>
          <c:val>
            <c:numRef>
              <c:f>'Time period'!$C$8:$C$13</c:f>
              <c:numCache>
                <c:formatCode>General</c:formatCode>
                <c:ptCount val="5"/>
                <c:pt idx="0">
                  <c:v>47.441890166028095</c:v>
                </c:pt>
                <c:pt idx="1">
                  <c:v>46.907834101382491</c:v>
                </c:pt>
                <c:pt idx="2">
                  <c:v>22.831950207468878</c:v>
                </c:pt>
                <c:pt idx="3">
                  <c:v>23.11627906976744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127-407E-B81C-73736D33DAF1}"/>
            </c:ext>
          </c:extLst>
        </c:ser>
        <c:ser>
          <c:idx val="2"/>
          <c:order val="2"/>
          <c:tx>
            <c:strRef>
              <c:f>'Time period'!$D$7</c:f>
              <c:strCache>
                <c:ptCount val="1"/>
                <c:pt idx="0">
                  <c:v>Total sales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/>
          </c:spPr>
          <c:invertIfNegative val="0"/>
          <c:cat>
            <c:strRef>
              <c:f>'Time period'!$A$8:$A$13</c:f>
              <c:strCache>
                <c:ptCount val="5"/>
                <c:pt idx="0">
                  <c:v>Afternoon</c:v>
                </c:pt>
                <c:pt idx="1">
                  <c:v>Evening</c:v>
                </c:pt>
                <c:pt idx="2">
                  <c:v>Morning</c:v>
                </c:pt>
                <c:pt idx="3">
                  <c:v>Night</c:v>
                </c:pt>
                <c:pt idx="4">
                  <c:v>(blank)</c:v>
                </c:pt>
              </c:strCache>
            </c:strRef>
          </c:cat>
          <c:val>
            <c:numRef>
              <c:f>'Time period'!$D$8:$D$13</c:f>
              <c:numCache>
                <c:formatCode>General</c:formatCode>
                <c:ptCount val="5"/>
                <c:pt idx="0">
                  <c:v>41125</c:v>
                </c:pt>
                <c:pt idx="1">
                  <c:v>11223</c:v>
                </c:pt>
                <c:pt idx="2">
                  <c:v>12354</c:v>
                </c:pt>
                <c:pt idx="3">
                  <c:v>3362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127-407E-B81C-73736D33DAF1}"/>
            </c:ext>
          </c:extLst>
        </c:ser>
        <c:ser>
          <c:idx val="3"/>
          <c:order val="3"/>
          <c:tx>
            <c:strRef>
              <c:f>'Time period'!$E$7</c:f>
              <c:strCache>
                <c:ptCount val="1"/>
                <c:pt idx="0">
                  <c:v>Average of casual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/>
          </c:spPr>
          <c:invertIfNegative val="0"/>
          <c:cat>
            <c:strRef>
              <c:f>'Time period'!$A$8:$A$13</c:f>
              <c:strCache>
                <c:ptCount val="5"/>
                <c:pt idx="0">
                  <c:v>Afternoon</c:v>
                </c:pt>
                <c:pt idx="1">
                  <c:v>Evening</c:v>
                </c:pt>
                <c:pt idx="2">
                  <c:v>Morning</c:v>
                </c:pt>
                <c:pt idx="3">
                  <c:v>Night</c:v>
                </c:pt>
                <c:pt idx="4">
                  <c:v>(blank)</c:v>
                </c:pt>
              </c:strCache>
            </c:strRef>
          </c:cat>
          <c:val>
            <c:numRef>
              <c:f>'Time period'!$E$8:$E$13</c:f>
              <c:numCache>
                <c:formatCode>General</c:formatCode>
                <c:ptCount val="5"/>
                <c:pt idx="0">
                  <c:v>5.0804597701149428</c:v>
                </c:pt>
                <c:pt idx="1">
                  <c:v>4.8110599078341014</c:v>
                </c:pt>
                <c:pt idx="2">
                  <c:v>2.7987551867219915</c:v>
                </c:pt>
                <c:pt idx="3">
                  <c:v>2.945736434108527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127-407E-B81C-73736D33DA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753260000"/>
        <c:axId val="1753244640"/>
        <c:axId val="1758039680"/>
      </c:bar3DChart>
      <c:catAx>
        <c:axId val="17532600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3244640"/>
        <c:crosses val="autoZero"/>
        <c:auto val="1"/>
        <c:lblAlgn val="ctr"/>
        <c:lblOffset val="100"/>
        <c:noMultiLvlLbl val="0"/>
      </c:catAx>
      <c:valAx>
        <c:axId val="17532446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50000"/>
                  <a:lumOff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3260000"/>
        <c:crosses val="autoZero"/>
        <c:crossBetween val="between"/>
      </c:valAx>
      <c:serAx>
        <c:axId val="175803968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3244640"/>
        <c:crosses val="autoZero"/>
      </c:ser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[Nexthike projrct excel.xlsx]Temperature effect!PivotTable3</c:name>
    <c:fmtId val="20"/>
  </c:pivotSource>
  <c:chart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'Temperature effect'!$B$6</c:f>
              <c:strCache>
                <c:ptCount val="1"/>
                <c:pt idx="0">
                  <c:v>Average of casual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strRef>
              <c:f>'Temperature effect'!$A$7:$A$30</c:f>
              <c:strCache>
                <c:ptCount val="23"/>
                <c:pt idx="0">
                  <c:v>0.02</c:v>
                </c:pt>
                <c:pt idx="1">
                  <c:v>0.04</c:v>
                </c:pt>
                <c:pt idx="2">
                  <c:v>0.06</c:v>
                </c:pt>
                <c:pt idx="3">
                  <c:v>0.08</c:v>
                </c:pt>
                <c:pt idx="4">
                  <c:v>0.1</c:v>
                </c:pt>
                <c:pt idx="5">
                  <c:v>0.12</c:v>
                </c:pt>
                <c:pt idx="6">
                  <c:v>0.14</c:v>
                </c:pt>
                <c:pt idx="7">
                  <c:v>0.16</c:v>
                </c:pt>
                <c:pt idx="8">
                  <c:v>0.18</c:v>
                </c:pt>
                <c:pt idx="9">
                  <c:v>0.2</c:v>
                </c:pt>
                <c:pt idx="10">
                  <c:v>0.22</c:v>
                </c:pt>
                <c:pt idx="11">
                  <c:v>0.24</c:v>
                </c:pt>
                <c:pt idx="12">
                  <c:v>0.26</c:v>
                </c:pt>
                <c:pt idx="13">
                  <c:v>0.28</c:v>
                </c:pt>
                <c:pt idx="14">
                  <c:v>0.3</c:v>
                </c:pt>
                <c:pt idx="15">
                  <c:v>0.32</c:v>
                </c:pt>
                <c:pt idx="16">
                  <c:v>0.34</c:v>
                </c:pt>
                <c:pt idx="17">
                  <c:v>0.36</c:v>
                </c:pt>
                <c:pt idx="18">
                  <c:v>0.38</c:v>
                </c:pt>
                <c:pt idx="19">
                  <c:v>0.4</c:v>
                </c:pt>
                <c:pt idx="20">
                  <c:v>0.42</c:v>
                </c:pt>
                <c:pt idx="21">
                  <c:v>0.44</c:v>
                </c:pt>
                <c:pt idx="22">
                  <c:v>0.46</c:v>
                </c:pt>
              </c:strCache>
            </c:strRef>
          </c:cat>
          <c:val>
            <c:numRef>
              <c:f>'Temperature effect'!$B$7:$B$30</c:f>
              <c:numCache>
                <c:formatCode>0.00</c:formatCode>
                <c:ptCount val="23"/>
                <c:pt idx="0">
                  <c:v>3</c:v>
                </c:pt>
                <c:pt idx="1">
                  <c:v>3</c:v>
                </c:pt>
                <c:pt idx="2">
                  <c:v>2.4666666666666668</c:v>
                </c:pt>
                <c:pt idx="3">
                  <c:v>2.4166666666666665</c:v>
                </c:pt>
                <c:pt idx="4">
                  <c:v>2.5</c:v>
                </c:pt>
                <c:pt idx="5">
                  <c:v>2.6136363636363638</c:v>
                </c:pt>
                <c:pt idx="6">
                  <c:v>2.50561797752809</c:v>
                </c:pt>
                <c:pt idx="7">
                  <c:v>2.6384615384615384</c:v>
                </c:pt>
                <c:pt idx="8">
                  <c:v>2.962025316455696</c:v>
                </c:pt>
                <c:pt idx="9">
                  <c:v>4.2045760430686405</c:v>
                </c:pt>
                <c:pt idx="10">
                  <c:v>3.4338235294117645</c:v>
                </c:pt>
                <c:pt idx="11">
                  <c:v>3.7325581395348837</c:v>
                </c:pt>
                <c:pt idx="12">
                  <c:v>3.2857142857142856</c:v>
                </c:pt>
                <c:pt idx="13">
                  <c:v>4.8518518518518521</c:v>
                </c:pt>
                <c:pt idx="14">
                  <c:v>8.7567567567567561</c:v>
                </c:pt>
                <c:pt idx="15">
                  <c:v>6.625</c:v>
                </c:pt>
                <c:pt idx="16">
                  <c:v>20.55</c:v>
                </c:pt>
                <c:pt idx="17">
                  <c:v>8.7333333333333325</c:v>
                </c:pt>
                <c:pt idx="18">
                  <c:v>10.111111111111111</c:v>
                </c:pt>
                <c:pt idx="19">
                  <c:v>10.75</c:v>
                </c:pt>
                <c:pt idx="20">
                  <c:v>9.5</c:v>
                </c:pt>
                <c:pt idx="21">
                  <c:v>3</c:v>
                </c:pt>
                <c:pt idx="2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331-4262-8A34-4C89132DE91A}"/>
            </c:ext>
          </c:extLst>
        </c:ser>
        <c:ser>
          <c:idx val="1"/>
          <c:order val="1"/>
          <c:tx>
            <c:strRef>
              <c:f>'Temperature effect'!$C$6</c:f>
              <c:strCache>
                <c:ptCount val="1"/>
                <c:pt idx="0">
                  <c:v>Average of registered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strRef>
              <c:f>'Temperature effect'!$A$7:$A$30</c:f>
              <c:strCache>
                <c:ptCount val="23"/>
                <c:pt idx="0">
                  <c:v>0.02</c:v>
                </c:pt>
                <c:pt idx="1">
                  <c:v>0.04</c:v>
                </c:pt>
                <c:pt idx="2">
                  <c:v>0.06</c:v>
                </c:pt>
                <c:pt idx="3">
                  <c:v>0.08</c:v>
                </c:pt>
                <c:pt idx="4">
                  <c:v>0.1</c:v>
                </c:pt>
                <c:pt idx="5">
                  <c:v>0.12</c:v>
                </c:pt>
                <c:pt idx="6">
                  <c:v>0.14</c:v>
                </c:pt>
                <c:pt idx="7">
                  <c:v>0.16</c:v>
                </c:pt>
                <c:pt idx="8">
                  <c:v>0.18</c:v>
                </c:pt>
                <c:pt idx="9">
                  <c:v>0.2</c:v>
                </c:pt>
                <c:pt idx="10">
                  <c:v>0.22</c:v>
                </c:pt>
                <c:pt idx="11">
                  <c:v>0.24</c:v>
                </c:pt>
                <c:pt idx="12">
                  <c:v>0.26</c:v>
                </c:pt>
                <c:pt idx="13">
                  <c:v>0.28</c:v>
                </c:pt>
                <c:pt idx="14">
                  <c:v>0.3</c:v>
                </c:pt>
                <c:pt idx="15">
                  <c:v>0.32</c:v>
                </c:pt>
                <c:pt idx="16">
                  <c:v>0.34</c:v>
                </c:pt>
                <c:pt idx="17">
                  <c:v>0.36</c:v>
                </c:pt>
                <c:pt idx="18">
                  <c:v>0.38</c:v>
                </c:pt>
                <c:pt idx="19">
                  <c:v>0.4</c:v>
                </c:pt>
                <c:pt idx="20">
                  <c:v>0.42</c:v>
                </c:pt>
                <c:pt idx="21">
                  <c:v>0.44</c:v>
                </c:pt>
                <c:pt idx="22">
                  <c:v>0.46</c:v>
                </c:pt>
              </c:strCache>
            </c:strRef>
          </c:cat>
          <c:val>
            <c:numRef>
              <c:f>'Temperature effect'!$C$7:$C$30</c:f>
              <c:numCache>
                <c:formatCode>0.00</c:formatCode>
                <c:ptCount val="23"/>
                <c:pt idx="0">
                  <c:v>13</c:v>
                </c:pt>
                <c:pt idx="1">
                  <c:v>13</c:v>
                </c:pt>
                <c:pt idx="2">
                  <c:v>19.333333333333332</c:v>
                </c:pt>
                <c:pt idx="3">
                  <c:v>16.333333333333332</c:v>
                </c:pt>
                <c:pt idx="4">
                  <c:v>32.375</c:v>
                </c:pt>
                <c:pt idx="5">
                  <c:v>21.704545454545453</c:v>
                </c:pt>
                <c:pt idx="6">
                  <c:v>24.943820224719101</c:v>
                </c:pt>
                <c:pt idx="7">
                  <c:v>29.53846153846154</c:v>
                </c:pt>
                <c:pt idx="8">
                  <c:v>26.481012658227847</c:v>
                </c:pt>
                <c:pt idx="9">
                  <c:v>46.014804845222073</c:v>
                </c:pt>
                <c:pt idx="10">
                  <c:v>26.816176470588236</c:v>
                </c:pt>
                <c:pt idx="11">
                  <c:v>41.372093023255815</c:v>
                </c:pt>
                <c:pt idx="12">
                  <c:v>24.553571428571427</c:v>
                </c:pt>
                <c:pt idx="13">
                  <c:v>40.629629629629626</c:v>
                </c:pt>
                <c:pt idx="14">
                  <c:v>48.594594594594597</c:v>
                </c:pt>
                <c:pt idx="15">
                  <c:v>44.583333333333336</c:v>
                </c:pt>
                <c:pt idx="16">
                  <c:v>82.15</c:v>
                </c:pt>
                <c:pt idx="17">
                  <c:v>45.466666666666669</c:v>
                </c:pt>
                <c:pt idx="18">
                  <c:v>35.333333333333336</c:v>
                </c:pt>
                <c:pt idx="19">
                  <c:v>37.4375</c:v>
                </c:pt>
                <c:pt idx="20">
                  <c:v>34.875</c:v>
                </c:pt>
                <c:pt idx="21">
                  <c:v>13</c:v>
                </c:pt>
                <c:pt idx="22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331-4262-8A34-4C89132DE9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687188112"/>
        <c:axId val="1687183312"/>
      </c:barChart>
      <c:catAx>
        <c:axId val="1687188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87183312"/>
        <c:crosses val="autoZero"/>
        <c:auto val="1"/>
        <c:lblAlgn val="ctr"/>
        <c:lblOffset val="100"/>
        <c:noMultiLvlLbl val="0"/>
      </c:catAx>
      <c:valAx>
        <c:axId val="16871833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871881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[Nexthike projrct excel.xlsx]weather impact!PivotTable4</c:name>
    <c:fmtId val="2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/>
              <a:t>Weather</a:t>
            </a:r>
            <a:r>
              <a:rPr lang="en-IN" baseline="0"/>
              <a:t> impact 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cked"/>
        <c:varyColors val="0"/>
        <c:ser>
          <c:idx val="0"/>
          <c:order val="0"/>
          <c:tx>
            <c:strRef>
              <c:f>'weather impact'!$B$7</c:f>
              <c:strCache>
                <c:ptCount val="1"/>
                <c:pt idx="0">
                  <c:v>Average of Rental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/>
          </c:spPr>
          <c:invertIfNegative val="0"/>
          <c:cat>
            <c:strRef>
              <c:f>'weather impact'!$A$8:$A$13</c:f>
              <c:strCache>
                <c:ptCount val="5"/>
                <c:pt idx="0">
                  <c:v>Clear</c:v>
                </c:pt>
                <c:pt idx="1">
                  <c:v>Heavy Rain/Snow</c:v>
                </c:pt>
                <c:pt idx="2">
                  <c:v>Light Snow/Rain</c:v>
                </c:pt>
                <c:pt idx="3">
                  <c:v>Mist</c:v>
                </c:pt>
                <c:pt idx="4">
                  <c:v>(blank)</c:v>
                </c:pt>
              </c:strCache>
            </c:strRef>
          </c:cat>
          <c:val>
            <c:numRef>
              <c:f>'weather impact'!$B$8:$B$13</c:f>
              <c:numCache>
                <c:formatCode>General</c:formatCode>
                <c:ptCount val="5"/>
                <c:pt idx="0">
                  <c:v>35.128712871287128</c:v>
                </c:pt>
                <c:pt idx="1">
                  <c:v>16</c:v>
                </c:pt>
                <c:pt idx="2">
                  <c:v>24.738095238095237</c:v>
                </c:pt>
                <c:pt idx="3">
                  <c:v>48.567391304347829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24-4579-9080-1A351A49AEC1}"/>
            </c:ext>
          </c:extLst>
        </c:ser>
        <c:ser>
          <c:idx val="1"/>
          <c:order val="1"/>
          <c:tx>
            <c:strRef>
              <c:f>'weather impact'!$C$7</c:f>
              <c:strCache>
                <c:ptCount val="1"/>
                <c:pt idx="0">
                  <c:v>ToTal Rental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/>
          </c:spPr>
          <c:invertIfNegative val="0"/>
          <c:cat>
            <c:strRef>
              <c:f>'weather impact'!$A$8:$A$13</c:f>
              <c:strCache>
                <c:ptCount val="5"/>
                <c:pt idx="0">
                  <c:v>Clear</c:v>
                </c:pt>
                <c:pt idx="1">
                  <c:v>Heavy Rain/Snow</c:v>
                </c:pt>
                <c:pt idx="2">
                  <c:v>Light Snow/Rain</c:v>
                </c:pt>
                <c:pt idx="3">
                  <c:v>Mist</c:v>
                </c:pt>
                <c:pt idx="4">
                  <c:v>(blank)</c:v>
                </c:pt>
              </c:strCache>
            </c:strRef>
          </c:cat>
          <c:val>
            <c:numRef>
              <c:f>'weather impact'!$C$8:$C$13</c:f>
              <c:numCache>
                <c:formatCode>General</c:formatCode>
                <c:ptCount val="5"/>
                <c:pt idx="0">
                  <c:v>21288</c:v>
                </c:pt>
                <c:pt idx="1">
                  <c:v>16</c:v>
                </c:pt>
                <c:pt idx="2">
                  <c:v>2078</c:v>
                </c:pt>
                <c:pt idx="3">
                  <c:v>44682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724-4579-9080-1A351A49AEC1}"/>
            </c:ext>
          </c:extLst>
        </c:ser>
        <c:ser>
          <c:idx val="2"/>
          <c:order val="2"/>
          <c:tx>
            <c:strRef>
              <c:f>'weather impact'!$D$7</c:f>
              <c:strCache>
                <c:ptCount val="1"/>
                <c:pt idx="0">
                  <c:v>Average of casual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/>
          </c:spPr>
          <c:invertIfNegative val="0"/>
          <c:cat>
            <c:strRef>
              <c:f>'weather impact'!$A$8:$A$13</c:f>
              <c:strCache>
                <c:ptCount val="5"/>
                <c:pt idx="0">
                  <c:v>Clear</c:v>
                </c:pt>
                <c:pt idx="1">
                  <c:v>Heavy Rain/Snow</c:v>
                </c:pt>
                <c:pt idx="2">
                  <c:v>Light Snow/Rain</c:v>
                </c:pt>
                <c:pt idx="3">
                  <c:v>Mist</c:v>
                </c:pt>
                <c:pt idx="4">
                  <c:v>(blank)</c:v>
                </c:pt>
              </c:strCache>
            </c:strRef>
          </c:cat>
          <c:val>
            <c:numRef>
              <c:f>'weather impact'!$D$8:$D$13</c:f>
              <c:numCache>
                <c:formatCode>General</c:formatCode>
                <c:ptCount val="5"/>
                <c:pt idx="0">
                  <c:v>4.4092409240924093</c:v>
                </c:pt>
                <c:pt idx="1">
                  <c:v>3</c:v>
                </c:pt>
                <c:pt idx="2">
                  <c:v>2.5119047619047619</c:v>
                </c:pt>
                <c:pt idx="3">
                  <c:v>4.2010869565217392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724-4579-9080-1A351A49AEC1}"/>
            </c:ext>
          </c:extLst>
        </c:ser>
        <c:ser>
          <c:idx val="3"/>
          <c:order val="3"/>
          <c:tx>
            <c:strRef>
              <c:f>'weather impact'!$E$7</c:f>
              <c:strCache>
                <c:ptCount val="1"/>
                <c:pt idx="0">
                  <c:v>Average of registered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/>
          </c:spPr>
          <c:invertIfNegative val="0"/>
          <c:cat>
            <c:strRef>
              <c:f>'weather impact'!$A$8:$A$13</c:f>
              <c:strCache>
                <c:ptCount val="5"/>
                <c:pt idx="0">
                  <c:v>Clear</c:v>
                </c:pt>
                <c:pt idx="1">
                  <c:v>Heavy Rain/Snow</c:v>
                </c:pt>
                <c:pt idx="2">
                  <c:v>Light Snow/Rain</c:v>
                </c:pt>
                <c:pt idx="3">
                  <c:v>Mist</c:v>
                </c:pt>
                <c:pt idx="4">
                  <c:v>(blank)</c:v>
                </c:pt>
              </c:strCache>
            </c:strRef>
          </c:cat>
          <c:val>
            <c:numRef>
              <c:f>'weather impact'!$E$8:$E$13</c:f>
              <c:numCache>
                <c:formatCode>General</c:formatCode>
                <c:ptCount val="5"/>
                <c:pt idx="0">
                  <c:v>30.71947194719472</c:v>
                </c:pt>
                <c:pt idx="1">
                  <c:v>13</c:v>
                </c:pt>
                <c:pt idx="2">
                  <c:v>22.226190476190474</c:v>
                </c:pt>
                <c:pt idx="3">
                  <c:v>44.366304347826087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724-4579-9080-1A351A49AE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01098559"/>
        <c:axId val="101112959"/>
        <c:axId val="0"/>
      </c:bar3DChart>
      <c:catAx>
        <c:axId val="1010985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1112959"/>
        <c:crosses val="autoZero"/>
        <c:auto val="1"/>
        <c:lblAlgn val="ctr"/>
        <c:lblOffset val="100"/>
        <c:noMultiLvlLbl val="0"/>
      </c:catAx>
      <c:valAx>
        <c:axId val="1011129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50000"/>
                  <a:lumOff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10985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4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/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dk1">
            <a:lumMod val="60000"/>
            <a:lumOff val="40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/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94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/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dk1">
            <a:lumMod val="60000"/>
            <a:lumOff val="40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/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94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/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dk1">
            <a:lumMod val="60000"/>
            <a:lumOff val="40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/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94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/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dk1">
            <a:lumMod val="60000"/>
            <a:lumOff val="40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/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5/24/2026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5/24/2026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5/24/2026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5/24/2026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5/24/2026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5/24/2026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5/24/2026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5/24/2026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5/24/2026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5/24/2026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5/24/2026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5/24/2026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5/24/2026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5/24/2026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5/24/2026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5/24/2026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5/24/2026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5/24/2026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8BB75-B87F-DA81-3F28-247333506C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3274142"/>
            <a:ext cx="8825658" cy="1503238"/>
          </a:xfrm>
        </p:spPr>
        <p:txBody>
          <a:bodyPr/>
          <a:lstStyle/>
          <a:p>
            <a:r>
              <a:rPr lang="en-US" sz="4800" b="1" dirty="0">
                <a:latin typeface="Berlin Sans FB Demi" panose="020E0802020502020306" pitchFamily="34" charset="0"/>
              </a:rPr>
              <a:t>Bike Sharing Demand Analysis</a:t>
            </a:r>
            <a:endParaRPr lang="en-IN" sz="4800" b="1" dirty="0">
              <a:latin typeface="Berlin Sans FB Demi" panose="020E0802020502020306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5DF098-A0CB-258F-75AB-E226B2DC0B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905200"/>
            <a:ext cx="8825658" cy="817176"/>
          </a:xfrm>
        </p:spPr>
        <p:txBody>
          <a:bodyPr>
            <a:normAutofit fontScale="92500" lnSpcReduction="20000"/>
          </a:bodyPr>
          <a:lstStyle/>
          <a:p>
            <a:r>
              <a:rPr lang="en-US" sz="2400" b="1" cap="none" dirty="0">
                <a:latin typeface="Berlin Sans FB Demi" panose="020E0802020502020306" pitchFamily="34" charset="0"/>
              </a:rPr>
              <a:t>Presented by-karan</a:t>
            </a:r>
          </a:p>
          <a:p>
            <a:r>
              <a:rPr lang="en-US" sz="2400" b="1" cap="none" dirty="0">
                <a:latin typeface="Berlin Sans FB Demi" panose="020E0802020502020306" pitchFamily="34" charset="0"/>
              </a:rPr>
              <a:t>Organization-</a:t>
            </a:r>
            <a:r>
              <a:rPr lang="en-US" sz="2400" b="1" cap="none" dirty="0" err="1">
                <a:latin typeface="Berlin Sans FB Demi" panose="020E0802020502020306" pitchFamily="34" charset="0"/>
              </a:rPr>
              <a:t>Nexthikes</a:t>
            </a:r>
            <a:r>
              <a:rPr lang="en-US" sz="2400" b="1" cap="none" dirty="0">
                <a:latin typeface="Berlin Sans FB Demi" panose="020E0802020502020306" pitchFamily="34" charset="0"/>
              </a:rPr>
              <a:t> IT Solution</a:t>
            </a:r>
          </a:p>
          <a:p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711971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CC92E-62CC-3AF5-31CE-623F76E70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973668"/>
            <a:ext cx="9267437" cy="706964"/>
          </a:xfrm>
        </p:spPr>
        <p:txBody>
          <a:bodyPr/>
          <a:lstStyle/>
          <a:p>
            <a:r>
              <a:rPr lang="en-US" sz="5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Berlin Sans FB Demi" panose="020E0802020502020306" pitchFamily="34" charset="0"/>
              </a:rPr>
              <a:t>Overview</a:t>
            </a:r>
            <a:endParaRPr lang="en-IN" sz="5400" b="1" dirty="0">
              <a:solidFill>
                <a:schemeClr val="accent1">
                  <a:lumMod val="60000"/>
                  <a:lumOff val="40000"/>
                </a:schemeClr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37BE3-57C2-3320-8231-22D19411E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231923"/>
            <a:ext cx="9331684" cy="4237703"/>
          </a:xfrm>
        </p:spPr>
        <p:txBody>
          <a:bodyPr/>
          <a:lstStyle/>
          <a:p>
            <a:r>
              <a:rPr lang="en-US" b="1" dirty="0"/>
              <a:t>Analyzed bike sharing rental data using Excel to identify customer demand pattern based.</a:t>
            </a:r>
          </a:p>
          <a:p>
            <a:r>
              <a:rPr lang="en-US" b="1" dirty="0"/>
              <a:t>Imported and merged multiple dataset using common keys such as instant, </a:t>
            </a:r>
            <a:r>
              <a:rPr lang="en-US" b="1" dirty="0" err="1"/>
              <a:t>dteday</a:t>
            </a:r>
            <a:r>
              <a:rPr lang="en-US" b="1" dirty="0"/>
              <a:t> and </a:t>
            </a:r>
            <a:r>
              <a:rPr lang="en-US" b="1" dirty="0" err="1"/>
              <a:t>hr</a:t>
            </a:r>
            <a:r>
              <a:rPr lang="en-US" b="1" dirty="0"/>
              <a:t> with the help of power Query and lookup function.</a:t>
            </a:r>
          </a:p>
          <a:p>
            <a:r>
              <a:rPr lang="en-US" b="1" dirty="0"/>
              <a:t>Performed data cleaning by handling missing values, removing duplicates, and correcting data types.</a:t>
            </a:r>
          </a:p>
          <a:p>
            <a:r>
              <a:rPr lang="en-US" b="1" dirty="0"/>
              <a:t>Used Excel function like Sum, Average, IF, VLOOKUP, COUNTIF, and conditional formatting for data analysis.</a:t>
            </a:r>
          </a:p>
          <a:p>
            <a:r>
              <a:rPr lang="en-US" b="1" dirty="0"/>
              <a:t>Created pivot table, Pivot charts and interactive dashboard with slicer to visualize rental trends and business insights.</a:t>
            </a:r>
          </a:p>
          <a:p>
            <a:endParaRPr lang="en-US" b="1" dirty="0"/>
          </a:p>
          <a:p>
            <a:endParaRPr lang="en-US" b="1" dirty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981133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20C3E-41B2-7675-61DD-901217AC3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8" y="924507"/>
            <a:ext cx="9139619" cy="706964"/>
          </a:xfrm>
        </p:spPr>
        <p:txBody>
          <a:bodyPr/>
          <a:lstStyle/>
          <a:p>
            <a:r>
              <a:rPr lang="en-US" sz="4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Berlin Sans FB Demi" panose="020E0802020502020306" pitchFamily="34" charset="0"/>
              </a:rPr>
              <a:t>Hourly Rental Demand </a:t>
            </a:r>
            <a:endParaRPr lang="en-IN" sz="4000" b="1" dirty="0">
              <a:solidFill>
                <a:schemeClr val="accent1">
                  <a:lumMod val="60000"/>
                  <a:lumOff val="40000"/>
                </a:schemeClr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AFFAB-7945-D0C4-7A47-CADC29700F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76748" y="2603500"/>
            <a:ext cx="5319252" cy="3416301"/>
          </a:xfrm>
        </p:spPr>
        <p:txBody>
          <a:bodyPr>
            <a:normAutofit/>
          </a:bodyPr>
          <a:lstStyle/>
          <a:p>
            <a:r>
              <a:rPr lang="en-US" sz="1600" b="1" dirty="0"/>
              <a:t>Peak rental demand occurs during late morning to early evening- </a:t>
            </a:r>
            <a:r>
              <a:rPr lang="en-US" sz="1400" dirty="0"/>
              <a:t>highest average rental are seen at hour 14(60.84) and hour 6(59.19),with another surge at hour 12(54.55).</a:t>
            </a:r>
          </a:p>
          <a:p>
            <a:r>
              <a:rPr lang="en-US" sz="1600" b="1" dirty="0"/>
              <a:t>Lowest rental happen in early morning hour-</a:t>
            </a:r>
            <a:r>
              <a:rPr lang="en-US" sz="1400" dirty="0"/>
              <a:t>from hour 0 to 5 , average rental stays below 20, with the minimum at hour 2 (10.98) and hour 3(11.62).</a:t>
            </a:r>
          </a:p>
          <a:p>
            <a:r>
              <a:rPr lang="en-US" sz="1600" b="1" dirty="0"/>
              <a:t>Registered user follow a similar pattern-</a:t>
            </a:r>
            <a:r>
              <a:rPr lang="en-US" sz="1400" dirty="0"/>
              <a:t>their average count rise during high rental hours.</a:t>
            </a:r>
          </a:p>
          <a:p>
            <a:r>
              <a:rPr lang="en-US" sz="1600" b="1" dirty="0"/>
              <a:t>Total rental spikes dramatically at hour 12-</a:t>
            </a:r>
            <a:r>
              <a:rPr lang="en-US" sz="1400" dirty="0"/>
              <a:t>reaching 35,748 ,which suggest either an anomaly or a major event  otherwise ,total rental remain between 300-3000 for the most hours.</a:t>
            </a:r>
            <a:endParaRPr lang="en-IN" sz="1600" b="1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5EF3D2A-C758-026B-30C6-C8CA2E13A8E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625634296"/>
              </p:ext>
            </p:extLst>
          </p:nvPr>
        </p:nvGraphicFramePr>
        <p:xfrm>
          <a:off x="6208713" y="2603500"/>
          <a:ext cx="5354022" cy="3416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85544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71432-0137-DFC6-BC1B-FA9358B37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420" y="973668"/>
            <a:ext cx="9178948" cy="706964"/>
          </a:xfrm>
        </p:spPr>
        <p:txBody>
          <a:bodyPr/>
          <a:lstStyle/>
          <a:p>
            <a:r>
              <a:rPr lang="en-US" sz="4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Weekdays vs Weekends</a:t>
            </a:r>
            <a:endParaRPr lang="en-IN" sz="40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CF9573-67F2-0EC8-4424-A4DCE6B442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90968" y="2603500"/>
            <a:ext cx="5289036" cy="3416300"/>
          </a:xfrm>
        </p:spPr>
        <p:txBody>
          <a:bodyPr>
            <a:normAutofit/>
          </a:bodyPr>
          <a:lstStyle/>
          <a:p>
            <a:r>
              <a:rPr lang="en-US" sz="1600" b="1" dirty="0"/>
              <a:t>Weekends see higher average -</a:t>
            </a:r>
            <a:r>
              <a:rPr lang="en-US" sz="1400" dirty="0"/>
              <a:t>48.53 on weekends vs.33.99 on weekdays, indicating increasing demand.</a:t>
            </a:r>
          </a:p>
          <a:p>
            <a:r>
              <a:rPr lang="en-US" sz="1600" b="1" dirty="0"/>
              <a:t>Total sales nearly double on weekends-</a:t>
            </a:r>
            <a:r>
              <a:rPr lang="en-US" sz="1400" dirty="0"/>
              <a:t>44,403 compared to 23,661 on weekdays.</a:t>
            </a:r>
          </a:p>
          <a:p>
            <a:r>
              <a:rPr lang="en-US" sz="1600" b="1" dirty="0"/>
              <a:t>Both casual and registered users increase on weekends</a:t>
            </a:r>
            <a:r>
              <a:rPr lang="en-US" sz="1600" dirty="0"/>
              <a:t> </a:t>
            </a:r>
            <a:r>
              <a:rPr lang="en-US" sz="1400" dirty="0"/>
              <a:t>– casual users rise from 30.12 to 44.10, registered from 3.87 to 4.43.</a:t>
            </a:r>
          </a:p>
          <a:p>
            <a:r>
              <a:rPr lang="en-US" sz="1600" b="1" dirty="0"/>
              <a:t>Overall averages confirm weekend preference</a:t>
            </a:r>
            <a:r>
              <a:rPr lang="en-US" sz="1600" dirty="0"/>
              <a:t> –</a:t>
            </a:r>
            <a:r>
              <a:rPr lang="en-US" dirty="0"/>
              <a:t> </a:t>
            </a:r>
            <a:r>
              <a:rPr lang="en-US" sz="1400" dirty="0"/>
              <a:t>overall average  is 42.25, total demand 68,064, driven largely by weekend usage.</a:t>
            </a:r>
          </a:p>
          <a:p>
            <a:endParaRPr lang="en-IN" sz="1600" b="1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77A48D3-F3E5-9EDA-84B3-83F182F02C99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513004263"/>
              </p:ext>
            </p:extLst>
          </p:nvPr>
        </p:nvGraphicFramePr>
        <p:xfrm>
          <a:off x="737420" y="2603500"/>
          <a:ext cx="5471292" cy="3416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05352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9D310-86BA-F94C-492F-F18CC9999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748" y="973668"/>
            <a:ext cx="9139619" cy="706964"/>
          </a:xfrm>
        </p:spPr>
        <p:txBody>
          <a:bodyPr/>
          <a:lstStyle/>
          <a:p>
            <a:r>
              <a:rPr lang="en-US" sz="4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Berlin Sans FB Demi" panose="020E0802020502020306" pitchFamily="34" charset="0"/>
              </a:rPr>
              <a:t>Day period Demand</a:t>
            </a:r>
            <a:endParaRPr lang="en-IN" sz="4000" b="1" dirty="0">
              <a:solidFill>
                <a:schemeClr val="accent1">
                  <a:lumMod val="60000"/>
                  <a:lumOff val="40000"/>
                </a:schemeClr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DC537-1D78-D9F6-98CC-1FEC8C975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76747" y="2603500"/>
            <a:ext cx="5319253" cy="3416301"/>
          </a:xfrm>
        </p:spPr>
        <p:txBody>
          <a:bodyPr>
            <a:normAutofit/>
          </a:bodyPr>
          <a:lstStyle/>
          <a:p>
            <a:r>
              <a:rPr lang="en-US" sz="1600" b="1" dirty="0"/>
              <a:t>Afternoon and evening- </a:t>
            </a:r>
            <a:r>
              <a:rPr lang="en-US" sz="1400" dirty="0"/>
              <a:t>have the highest average rental (52.52 and 51.72) and highest registered users (47.44 and 46.91).</a:t>
            </a:r>
          </a:p>
          <a:p>
            <a:r>
              <a:rPr lang="en-US" sz="1600" b="1" dirty="0"/>
              <a:t>Morning and night - </a:t>
            </a:r>
            <a:r>
              <a:rPr lang="en-US" sz="1400" dirty="0"/>
              <a:t>show much lower average rental (25.63 and 26.06) and registered users (22.83 and 23.12).</a:t>
            </a:r>
          </a:p>
          <a:p>
            <a:r>
              <a:rPr lang="en-US" sz="1600" b="1" dirty="0"/>
              <a:t>Total sales </a:t>
            </a:r>
            <a:r>
              <a:rPr lang="en-US" sz="1400" dirty="0"/>
              <a:t>- are highest in the afternoon (41,125), followed by morning (12,354), evening (11,223), and lowest at night (3,362).</a:t>
            </a:r>
          </a:p>
          <a:p>
            <a:r>
              <a:rPr lang="en-US" sz="1600" b="1" dirty="0"/>
              <a:t>Casual users - </a:t>
            </a:r>
            <a:r>
              <a:rPr lang="en-US" sz="1400" dirty="0"/>
              <a:t>remain low across all shifts, but slightly higher in afternoon and evening (~5.0–4.8) compared to morning and night (~2.8–2.9).</a:t>
            </a:r>
            <a:endParaRPr lang="en-IN" sz="1400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C0EB8A3-452D-BA62-AF10-E43105200AE8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08713" y="2603500"/>
          <a:ext cx="5432425" cy="3416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56436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973C2-2BAC-3EE2-CCD1-899E5F21E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924" y="973668"/>
            <a:ext cx="9208444" cy="706964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Berlin Sans FB Demi" panose="020E0802020502020306" pitchFamily="34" charset="0"/>
              </a:rPr>
              <a:t>Temperature effect registered vs casual</a:t>
            </a:r>
            <a:endParaRPr lang="en-IN" b="1" dirty="0">
              <a:solidFill>
                <a:schemeClr val="accent1">
                  <a:lumMod val="60000"/>
                  <a:lumOff val="40000"/>
                </a:schemeClr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FD88B0-B393-6C93-B7ED-3243457A20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0632" y="2603500"/>
            <a:ext cx="5181600" cy="3416300"/>
          </a:xfrm>
        </p:spPr>
        <p:txBody>
          <a:bodyPr>
            <a:normAutofit/>
          </a:bodyPr>
          <a:lstStyle/>
          <a:p>
            <a:r>
              <a:rPr lang="en-US" sz="1700" b="1" dirty="0"/>
              <a:t>At low temperatures (0.02–0.16) -</a:t>
            </a:r>
            <a:r>
              <a:rPr lang="en-US" sz="1400" dirty="0"/>
              <a:t>both casual and registered users are low – casual stays around 2–3, registered between 13–29.</a:t>
            </a:r>
          </a:p>
          <a:p>
            <a:r>
              <a:rPr lang="en-US" sz="1700" b="1" dirty="0"/>
              <a:t>As temperature rises (0.18–0.30)-</a:t>
            </a:r>
            <a:r>
              <a:rPr lang="en-US" sz="1500" dirty="0"/>
              <a:t>both user types increase – casual reaches up to 8.76, registered peaks at 48.59.</a:t>
            </a:r>
          </a:p>
          <a:p>
            <a:r>
              <a:rPr lang="en-US" sz="1700" b="1" dirty="0"/>
              <a:t>At moderate-high temperature (0.34)- </a:t>
            </a:r>
            <a:r>
              <a:rPr lang="en-US" sz="1500" dirty="0"/>
              <a:t>a sharp spike occurs – casual jumps to 20.55 and registered soars to 82.15, the highest in the data.</a:t>
            </a:r>
          </a:p>
          <a:p>
            <a:r>
              <a:rPr lang="en-US" sz="1600" b="1" dirty="0"/>
              <a:t>Registered users consistently outnumber -</a:t>
            </a:r>
            <a:r>
              <a:rPr lang="en-US" sz="1400" dirty="0"/>
              <a:t>casual users across all temperatures, and their growth with temperature is much steeper, especially after 0.30.</a:t>
            </a:r>
            <a:endParaRPr lang="en-IN" sz="1400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E20117F-7F75-6471-6425-365E3332C01C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708025" y="2603500"/>
          <a:ext cx="5500688" cy="3416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06324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912D3-1CC6-E0DF-C8C3-1E3CBF9EC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240" y="973668"/>
            <a:ext cx="9051128" cy="706964"/>
          </a:xfrm>
        </p:spPr>
        <p:txBody>
          <a:bodyPr/>
          <a:lstStyle/>
          <a:p>
            <a:r>
              <a:rPr lang="en-IN" sz="4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Berlin Sans FB Demi" panose="020E0802020502020306" pitchFamily="34" charset="0"/>
              </a:rPr>
              <a:t>Weather impact on rentals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03084-6FFA-FB47-2DC4-6363DAAAD1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65240" y="2603500"/>
            <a:ext cx="5114872" cy="3416301"/>
          </a:xfrm>
        </p:spPr>
        <p:txBody>
          <a:bodyPr/>
          <a:lstStyle/>
          <a:p>
            <a:r>
              <a:rPr lang="en-US" sz="1600" b="1" dirty="0"/>
              <a:t>Clear weather </a:t>
            </a:r>
            <a:r>
              <a:rPr lang="en-US" sz="1400" b="1" dirty="0"/>
              <a:t>- </a:t>
            </a:r>
            <a:r>
              <a:rPr lang="en-US" sz="1400" dirty="0"/>
              <a:t>gives the highest average rental (35.13) and total rental (21,288).</a:t>
            </a:r>
          </a:p>
          <a:p>
            <a:r>
              <a:rPr lang="en-US" sz="1600" b="1" dirty="0"/>
              <a:t>Light snow/rain </a:t>
            </a:r>
            <a:r>
              <a:rPr lang="en-US" sz="1400" b="1" dirty="0"/>
              <a:t>- </a:t>
            </a:r>
            <a:r>
              <a:rPr lang="en-US" sz="1400" dirty="0"/>
              <a:t>reduces average rental to 16, and heavy rain/snow further lowers it to 14.</a:t>
            </a:r>
          </a:p>
          <a:p>
            <a:r>
              <a:rPr lang="en-US" sz="1600" b="1" dirty="0"/>
              <a:t>Misty conditions -</a:t>
            </a:r>
            <a:r>
              <a:rPr lang="en-US" sz="1400" dirty="0"/>
              <a:t>have the lowest impact – average rental drops sharply to just 2.51.</a:t>
            </a:r>
          </a:p>
          <a:p>
            <a:r>
              <a:rPr lang="en-US" sz="1600" b="1" dirty="0"/>
              <a:t>Casual users dominate - </a:t>
            </a:r>
            <a:r>
              <a:rPr lang="en-US" sz="1400" dirty="0"/>
              <a:t>in clear weather (30.72 vs. 4.41 registered), showing weather affects casual riders much more than registered ones.</a:t>
            </a:r>
            <a:endParaRPr lang="en-IN" sz="1400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9C45D84-41CC-4072-90E9-D8C300EA9A06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08713" y="2603500"/>
          <a:ext cx="5343525" cy="3416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45365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FA054-53AC-401B-DC1D-0FD6348FF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594" y="973668"/>
            <a:ext cx="9247773" cy="706964"/>
          </a:xfrm>
        </p:spPr>
        <p:txBody>
          <a:bodyPr/>
          <a:lstStyle/>
          <a:p>
            <a:r>
              <a:rPr lang="en-US" sz="4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Berlin Sans FB Demi" panose="020E0802020502020306" pitchFamily="34" charset="0"/>
              </a:rPr>
              <a:t>Dashboard</a:t>
            </a:r>
            <a:endParaRPr lang="en-IN" sz="4400" b="1" dirty="0">
              <a:solidFill>
                <a:schemeClr val="accent1">
                  <a:lumMod val="60000"/>
                  <a:lumOff val="40000"/>
                </a:schemeClr>
              </a:solidFill>
              <a:latin typeface="Berlin Sans FB Demi" panose="020E0802020502020306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92D145-594C-34D1-0301-1EFF4D60E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96385"/>
            <a:ext cx="12192000" cy="4346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2598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7BC1A-87B4-E090-2981-DEEC0780C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084" y="973668"/>
            <a:ext cx="9159283" cy="706964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Berlin Sans FB Demi" panose="020E0802020502020306" pitchFamily="34" charset="0"/>
              </a:rPr>
              <a:t>Overall Insights &amp; Recommendations</a:t>
            </a:r>
            <a:endParaRPr lang="en-IN" dirty="0">
              <a:latin typeface="Berlin Sans FB Demi" panose="020E0802020502020306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F6FFC5-02A5-E2EF-CA0B-7432256DD4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7084" y="2603500"/>
            <a:ext cx="5223027" cy="576262"/>
          </a:xfrm>
        </p:spPr>
        <p:txBody>
          <a:bodyPr/>
          <a:lstStyle/>
          <a:p>
            <a:r>
              <a:rPr lang="en-US" b="1" dirty="0">
                <a:latin typeface="Berlin Sans FB Demi" panose="020E0802020502020306" pitchFamily="34" charset="0"/>
              </a:rPr>
              <a:t>Key insights </a:t>
            </a:r>
            <a:endParaRPr lang="en-IN" b="1" dirty="0">
              <a:latin typeface="Berlin Sans FB Demi" panose="020E0802020502020306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4A837D-791F-9FDB-62B7-7A84C5FA5F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7084" y="3179762"/>
            <a:ext cx="5223028" cy="2840039"/>
          </a:xfrm>
        </p:spPr>
        <p:txBody>
          <a:bodyPr>
            <a:normAutofit fontScale="85000" lnSpcReduction="20000"/>
          </a:bodyPr>
          <a:lstStyle/>
          <a:p>
            <a:r>
              <a:rPr lang="en-US" sz="1600" dirty="0"/>
              <a:t>Peak rental hour are 8 am and 5-6 pm indicate commuter usage pattern.</a:t>
            </a:r>
          </a:p>
          <a:p>
            <a:r>
              <a:rPr lang="en-US" sz="1600" dirty="0"/>
              <a:t>Clear weather condition generate highest demand .</a:t>
            </a:r>
          </a:p>
          <a:p>
            <a:r>
              <a:rPr lang="en-US" sz="1600" dirty="0"/>
              <a:t>Registered user account for 76% of all rental.</a:t>
            </a:r>
          </a:p>
          <a:p>
            <a:r>
              <a:rPr lang="en-IN" sz="1600" dirty="0"/>
              <a:t>Weekend rental show different pattern with mid-day peak.</a:t>
            </a:r>
          </a:p>
          <a:p>
            <a:r>
              <a:rPr lang="en-IN" sz="1600" dirty="0"/>
              <a:t>Temperature significantly impacts demand – optimal range is 15-25c.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EA553A-0A63-B331-DEB6-613CA16187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5472011" cy="576262"/>
          </a:xfrm>
        </p:spPr>
        <p:txBody>
          <a:bodyPr/>
          <a:lstStyle/>
          <a:p>
            <a:r>
              <a:rPr lang="en-US" b="1" dirty="0">
                <a:latin typeface="Berlin Sans FB Demi" panose="020E0802020502020306" pitchFamily="34" charset="0"/>
              </a:rPr>
              <a:t>Recommendation</a:t>
            </a:r>
            <a:endParaRPr lang="en-IN" b="1" dirty="0">
              <a:latin typeface="Berlin Sans FB Demi" panose="020E0802020502020306" pitchFamily="34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C3066C-09A9-895D-2E88-2D0382FEB0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5472011" cy="2840039"/>
          </a:xfrm>
        </p:spPr>
        <p:txBody>
          <a:bodyPr>
            <a:normAutofit fontScale="85000" lnSpcReduction="20000"/>
          </a:bodyPr>
          <a:lstStyle/>
          <a:p>
            <a:r>
              <a:rPr lang="en-US" sz="1500" dirty="0"/>
              <a:t>Launch a 5–7 AM "Morning Boost" discount to shift demand from peak hour 6·</a:t>
            </a:r>
          </a:p>
          <a:p>
            <a:r>
              <a:rPr lang="en-US" sz="1500" dirty="0"/>
              <a:t>Move bikes to storage on misty days (rental drops to 2.5) to reduce idle fleet cost·</a:t>
            </a:r>
          </a:p>
          <a:p>
            <a:r>
              <a:rPr lang="en-US" sz="1500" dirty="0"/>
              <a:t> Introduce a Weekend Midday Pass (10 AM–4 PM) for casual leisure riders· </a:t>
            </a:r>
          </a:p>
          <a:p>
            <a:r>
              <a:rPr lang="en-US" sz="1500" dirty="0"/>
              <a:t>Deploy pop-up kiosks near parks when temperature exceeds 0.30 (casual users double)·</a:t>
            </a:r>
          </a:p>
          <a:p>
            <a:r>
              <a:rPr lang="en-US" sz="1500" dirty="0"/>
              <a:t> Schedule maintenance during hour 3–4 (lowest demand: &lt;12 avg rental)· </a:t>
            </a:r>
          </a:p>
          <a:p>
            <a:r>
              <a:rPr lang="en-US" sz="1600" dirty="0"/>
              <a:t>Turn hour 12’s 35,748 rental spike into a weekly "Noon Rush" flash sale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8928201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C6591-8EE7-F11E-2027-74F91C533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587" y="2370667"/>
            <a:ext cx="9253027" cy="1822514"/>
          </a:xfrm>
        </p:spPr>
        <p:txBody>
          <a:bodyPr/>
          <a:lstStyle/>
          <a:p>
            <a:r>
              <a:rPr lang="en-US" sz="9600" b="1" dirty="0">
                <a:latin typeface="Berlin Sans FB Demi" panose="020E0802020502020306" pitchFamily="34" charset="0"/>
              </a:rPr>
              <a:t>Thank you</a:t>
            </a:r>
            <a:endParaRPr lang="en-IN" sz="9600" b="1" dirty="0">
              <a:latin typeface="Berlin Sans FB Demi" panose="020E0802020502020306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35C130-1A80-5043-FC32-0BB1B2BBCC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08916" y="6812281"/>
            <a:ext cx="8825659" cy="45719"/>
          </a:xfrm>
        </p:spPr>
        <p:txBody>
          <a:bodyPr>
            <a:normAutofit fontScale="250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83098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544</TotalTime>
  <Words>743</Words>
  <Application>Microsoft Office PowerPoint</Application>
  <PresentationFormat>Widescreen</PresentationFormat>
  <Paragraphs>54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Berlin Sans FB Demi</vt:lpstr>
      <vt:lpstr>Century Gothic</vt:lpstr>
      <vt:lpstr>Wingdings 3</vt:lpstr>
      <vt:lpstr>Ion Boardroom</vt:lpstr>
      <vt:lpstr>Bike Sharing Demand Analysis</vt:lpstr>
      <vt:lpstr>Overview</vt:lpstr>
      <vt:lpstr>Hourly Rental Demand </vt:lpstr>
      <vt:lpstr>Weekdays vs Weekends</vt:lpstr>
      <vt:lpstr>Day period Demand</vt:lpstr>
      <vt:lpstr>Temperature effect registered vs casual</vt:lpstr>
      <vt:lpstr>Weather impact on rentals</vt:lpstr>
      <vt:lpstr>Dashboard</vt:lpstr>
      <vt:lpstr>Overall Insights &amp; Recommendations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karan rajput</dc:creator>
  <cp:lastModifiedBy>karan rajput</cp:lastModifiedBy>
  <cp:revision>2</cp:revision>
  <dcterms:created xsi:type="dcterms:W3CDTF">2026-05-23T10:37:26Z</dcterms:created>
  <dcterms:modified xsi:type="dcterms:W3CDTF">2026-05-24T15:43:10Z</dcterms:modified>
</cp:coreProperties>
</file>